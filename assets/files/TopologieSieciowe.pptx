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96" r:id="rId5"/>
    <p:sldId id="276" r:id="rId6"/>
    <p:sldId id="277" r:id="rId7"/>
    <p:sldId id="281" r:id="rId8"/>
    <p:sldId id="293" r:id="rId9"/>
    <p:sldId id="285" r:id="rId10"/>
    <p:sldId id="295" r:id="rId11"/>
    <p:sldId id="292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79" autoAdjust="0"/>
  </p:normalViewPr>
  <p:slideViewPr>
    <p:cSldViewPr snapToGrid="0" showGuides="1">
      <p:cViewPr varScale="1">
        <p:scale>
          <a:sx n="119" d="100"/>
          <a:sy n="119" d="100"/>
        </p:scale>
        <p:origin x="270" y="108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10/26/2023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48055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77460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850991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77465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8588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547045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73632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 dirty="0"/>
              <a:t>Click to edit  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tx2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noProof="0" dirty="0"/>
              <a:t>Click to edit </a:t>
            </a:r>
            <a:r>
              <a:rPr lang="en-US" altLang="zh-CN" noProof="0" dirty="0"/>
              <a:t>Text </a:t>
            </a:r>
            <a:r>
              <a:rPr lang="en-US" noProof="0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2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/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rgbClr val="44678D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 noProof="0" dirty="0"/>
              <a:t>Click icon to add picture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altLang="zh-CN" dirty="0"/>
              <a:t>TOPOLOGIE</a:t>
            </a:r>
            <a:br>
              <a:rPr lang="pl-PL" altLang="zh-CN" dirty="0"/>
            </a:br>
            <a:r>
              <a:rPr lang="pl-PL" altLang="zh-CN" dirty="0"/>
              <a:t>SIECIOWE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57405" y="4152532"/>
            <a:ext cx="3498172" cy="760288"/>
          </a:xfrm>
        </p:spPr>
        <p:txBody>
          <a:bodyPr/>
          <a:lstStyle/>
          <a:p>
            <a:r>
              <a:rPr lang="pl-PL" dirty="0"/>
              <a:t>Prezentacja stworzona przez Bartosza Świąteckiego 1A</a:t>
            </a:r>
            <a:endParaRPr lang="en-US" dirty="0"/>
          </a:p>
        </p:txBody>
      </p:sp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tretch>
            <a:fillRect/>
          </a:stretch>
        </p:blipFill>
        <p:spPr>
          <a:xfrm>
            <a:off x="6550291" y="1641986"/>
            <a:ext cx="4405503" cy="3108633"/>
          </a:xfr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53695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129" y="695672"/>
            <a:ext cx="5117162" cy="1325563"/>
          </a:xfrm>
        </p:spPr>
        <p:txBody>
          <a:bodyPr/>
          <a:lstStyle/>
          <a:p>
            <a:r>
              <a:rPr lang="pl-PL" altLang="zh-CN" dirty="0"/>
              <a:t>TOPOLOGIA</a:t>
            </a:r>
            <a:br>
              <a:rPr lang="pl-PL" altLang="zh-CN" dirty="0"/>
            </a:br>
            <a:r>
              <a:rPr lang="pl-PL" altLang="zh-CN" dirty="0"/>
              <a:t>MAGISTRALI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16129" y="2021235"/>
            <a:ext cx="4260180" cy="1294530"/>
          </a:xfrm>
        </p:spPr>
        <p:txBody>
          <a:bodyPr/>
          <a:lstStyle/>
          <a:p>
            <a:r>
              <a:rPr lang="pl-PL" dirty="0"/>
              <a:t>Jest to jedna z topologii fizycznych sieci komputerowych charakteryzująca się tym, że wszystkie elementy sieci są podłączone do jednej magistrali. W tej topologii pracują na przykład sieci 10BASE2, 10BASE5 czy NMEA 2000.</a:t>
            </a:r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584821" y="31158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73587D4E-FDA6-4381-9185-D5ED28C78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259" y="1810149"/>
            <a:ext cx="6349206" cy="3250794"/>
          </a:xfrm>
          <a:prstGeom prst="rect">
            <a:avLst/>
          </a:prstGeom>
        </p:spPr>
      </p:pic>
      <p:sp>
        <p:nvSpPr>
          <p:cNvPr id="13" name="Title 4">
            <a:extLst>
              <a:ext uri="{FF2B5EF4-FFF2-40B4-BE49-F238E27FC236}">
                <a16:creationId xmlns:a16="http://schemas.microsoft.com/office/drawing/2014/main" id="{49B408F6-F1C9-4DD8-A1BE-BE111F409356}"/>
              </a:ext>
            </a:extLst>
          </p:cNvPr>
          <p:cNvSpPr txBox="1">
            <a:spLocks/>
          </p:cNvSpPr>
          <p:nvPr/>
        </p:nvSpPr>
        <p:spPr>
          <a:xfrm>
            <a:off x="416129" y="3435546"/>
            <a:ext cx="5117162" cy="1294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Zalety:</a:t>
            </a:r>
          </a:p>
          <a:p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D7AA02DA-01AF-45DF-90B6-AF491A995DC8}"/>
              </a:ext>
            </a:extLst>
          </p:cNvPr>
          <p:cNvSpPr txBox="1">
            <a:spLocks/>
          </p:cNvSpPr>
          <p:nvPr/>
        </p:nvSpPr>
        <p:spPr>
          <a:xfrm>
            <a:off x="416129" y="3888135"/>
            <a:ext cx="4260180" cy="12945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9829AE91-EE91-4038-AC49-877C22AAD967}"/>
              </a:ext>
            </a:extLst>
          </p:cNvPr>
          <p:cNvSpPr txBox="1">
            <a:spLocks/>
          </p:cNvSpPr>
          <p:nvPr/>
        </p:nvSpPr>
        <p:spPr>
          <a:xfrm>
            <a:off x="416592" y="3980402"/>
            <a:ext cx="4428123" cy="1066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brak konieczności stosowania dodatkowych urządzeń (koncentratory, </a:t>
            </a:r>
            <a:r>
              <a:rPr lang="pl-PL" dirty="0" err="1"/>
              <a:t>switche</a:t>
            </a:r>
            <a:r>
              <a:rPr lang="pl-PL" dirty="0"/>
              <a:t>), niski koszt budowy sieci, łatwa instalacja, awaria jednej stacji nie powoduje unieruchomienia całej sieci.</a:t>
            </a:r>
            <a:endParaRPr lang="en-US" dirty="0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2CF7DCE8-520A-4BA4-B149-C75A111B6116}"/>
              </a:ext>
            </a:extLst>
          </p:cNvPr>
          <p:cNvSpPr txBox="1">
            <a:spLocks/>
          </p:cNvSpPr>
          <p:nvPr/>
        </p:nvSpPr>
        <p:spPr>
          <a:xfrm>
            <a:off x="416129" y="4880889"/>
            <a:ext cx="5117162" cy="1294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Wady:</a:t>
            </a:r>
          </a:p>
          <a:p>
            <a:endParaRPr lang="en-US" dirty="0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BD5F337B-5187-4CA9-9CDC-FF0108C0C047}"/>
              </a:ext>
            </a:extLst>
          </p:cNvPr>
          <p:cNvSpPr txBox="1">
            <a:spLocks/>
          </p:cNvSpPr>
          <p:nvPr/>
        </p:nvSpPr>
        <p:spPr>
          <a:xfrm>
            <a:off x="416129" y="5449296"/>
            <a:ext cx="4050363" cy="12945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Wadą topologii z magistralą jest konkurencja o dostęp - wszystkie komputery muszą dzielić się kablem, utrudniona diagnostyka błędów z powodu braku centralnego systemu zarządzającego siecią.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4D761329-3BEF-0173-1328-A4DB26572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0645" y="996323"/>
            <a:ext cx="5867902" cy="1711360"/>
          </a:xfrm>
        </p:spPr>
        <p:txBody>
          <a:bodyPr/>
          <a:lstStyle/>
          <a:p>
            <a:r>
              <a:rPr lang="pl-PL" dirty="0"/>
              <a:t>TOPOLOGIA</a:t>
            </a:r>
            <a:br>
              <a:rPr lang="pl-PL" dirty="0"/>
            </a:br>
            <a:r>
              <a:rPr lang="pl-PL" dirty="0"/>
              <a:t>PIERŚCIENIA</a:t>
            </a:r>
            <a:endParaRPr lang="en-US" dirty="0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32A3EFD8-63CD-4A6D-897A-827A761FC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886" y="2348786"/>
            <a:ext cx="2218592" cy="2169724"/>
          </a:xfrm>
          <a:prstGeom prst="rect">
            <a:avLst/>
          </a:prstGeom>
        </p:spPr>
      </p:pic>
      <p:sp>
        <p:nvSpPr>
          <p:cNvPr id="14" name="Symbol zastępczy tekstu 13">
            <a:extLst>
              <a:ext uri="{FF2B5EF4-FFF2-40B4-BE49-F238E27FC236}">
                <a16:creationId xmlns:a16="http://schemas.microsoft.com/office/drawing/2014/main" id="{83CDB5FD-1100-4022-8C15-0FD23A9392E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910862" y="3032735"/>
            <a:ext cx="1570612" cy="1070829"/>
          </a:xfrm>
        </p:spPr>
        <p:txBody>
          <a:bodyPr/>
          <a:lstStyle/>
          <a:p>
            <a:endParaRPr lang="pl-PL" dirty="0"/>
          </a:p>
          <a:p>
            <a:endParaRPr lang="pl-PL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DCE0891-7791-4996-9E44-0199E593C78B}"/>
              </a:ext>
            </a:extLst>
          </p:cNvPr>
          <p:cNvSpPr txBox="1">
            <a:spLocks/>
          </p:cNvSpPr>
          <p:nvPr/>
        </p:nvSpPr>
        <p:spPr>
          <a:xfrm>
            <a:off x="7072370" y="2811025"/>
            <a:ext cx="4168228" cy="1066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4E732AE8-8A8B-4BEB-A9B6-1D1C795A23F0}"/>
              </a:ext>
            </a:extLst>
          </p:cNvPr>
          <p:cNvSpPr txBox="1">
            <a:spLocks/>
          </p:cNvSpPr>
          <p:nvPr/>
        </p:nvSpPr>
        <p:spPr>
          <a:xfrm>
            <a:off x="5770645" y="2499295"/>
            <a:ext cx="4168228" cy="1066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Komputery połączone są za pomocą jednego nośnika informacji w układzie zamkniętym – okablowanie nie ma żadnych zakończeń.</a:t>
            </a:r>
            <a:endParaRPr lang="en-US" dirty="0"/>
          </a:p>
        </p:txBody>
      </p:sp>
      <p:sp>
        <p:nvSpPr>
          <p:cNvPr id="22" name="Title 4">
            <a:extLst>
              <a:ext uri="{FF2B5EF4-FFF2-40B4-BE49-F238E27FC236}">
                <a16:creationId xmlns:a16="http://schemas.microsoft.com/office/drawing/2014/main" id="{0FE6BD6B-273C-4658-9582-47FDF210D456}"/>
              </a:ext>
            </a:extLst>
          </p:cNvPr>
          <p:cNvSpPr txBox="1">
            <a:spLocks/>
          </p:cNvSpPr>
          <p:nvPr/>
        </p:nvSpPr>
        <p:spPr>
          <a:xfrm>
            <a:off x="5770645" y="3344465"/>
            <a:ext cx="5117162" cy="1294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Zalety:</a:t>
            </a:r>
          </a:p>
          <a:p>
            <a:endParaRPr lang="en-US" dirty="0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0115731E-74BE-4F50-9F0E-2E028E918E37}"/>
              </a:ext>
            </a:extLst>
          </p:cNvPr>
          <p:cNvSpPr txBox="1">
            <a:spLocks/>
          </p:cNvSpPr>
          <p:nvPr/>
        </p:nvSpPr>
        <p:spPr>
          <a:xfrm>
            <a:off x="5770645" y="3904790"/>
            <a:ext cx="4168228" cy="1066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Zaletą topologii pierścienia jest to, że każdy komputer pełni rolę wzmacniaka regenerującego sygnał i przesyłającego go do następnego komputera, dzięki czemu sygnał nie słabnie</a:t>
            </a:r>
            <a:endParaRPr lang="en-US" dirty="0"/>
          </a:p>
        </p:txBody>
      </p:sp>
      <p:sp>
        <p:nvSpPr>
          <p:cNvPr id="24" name="Title 4">
            <a:extLst>
              <a:ext uri="{FF2B5EF4-FFF2-40B4-BE49-F238E27FC236}">
                <a16:creationId xmlns:a16="http://schemas.microsoft.com/office/drawing/2014/main" id="{19E73936-F282-4CF6-9F92-443A4BE16F7A}"/>
              </a:ext>
            </a:extLst>
          </p:cNvPr>
          <p:cNvSpPr txBox="1">
            <a:spLocks/>
          </p:cNvSpPr>
          <p:nvPr/>
        </p:nvSpPr>
        <p:spPr>
          <a:xfrm>
            <a:off x="5770645" y="4836927"/>
            <a:ext cx="5117162" cy="1294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Wady:</a:t>
            </a:r>
          </a:p>
          <a:p>
            <a:endParaRPr lang="en-US" dirty="0"/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64EBCD5C-12A6-43AD-A457-D7280760915B}"/>
              </a:ext>
            </a:extLst>
          </p:cNvPr>
          <p:cNvSpPr txBox="1">
            <a:spLocks/>
          </p:cNvSpPr>
          <p:nvPr/>
        </p:nvSpPr>
        <p:spPr>
          <a:xfrm>
            <a:off x="5770645" y="5419998"/>
            <a:ext cx="4168228" cy="1066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Awaria pojedynczego przewodu lub komputera powoduje przerwanie pracy całej sieci jeśli nie jest zainstalowany dodatkowy sprzęt.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079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9A322C9A-4C29-F80C-A85F-70A864549ADA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38" name="Obraz 37">
            <a:extLst>
              <a:ext uri="{FF2B5EF4-FFF2-40B4-BE49-F238E27FC236}">
                <a16:creationId xmlns:a16="http://schemas.microsoft.com/office/drawing/2014/main" id="{C839BEB8-DCA7-478C-80D2-A9007199C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39" y="3633828"/>
            <a:ext cx="3491375" cy="3293530"/>
          </a:xfrm>
          <a:prstGeom prst="rect">
            <a:avLst/>
          </a:prstGeom>
        </p:spPr>
      </p:pic>
      <p:sp>
        <p:nvSpPr>
          <p:cNvPr id="43" name="Title 4">
            <a:extLst>
              <a:ext uri="{FF2B5EF4-FFF2-40B4-BE49-F238E27FC236}">
                <a16:creationId xmlns:a16="http://schemas.microsoft.com/office/drawing/2014/main" id="{2F043973-D42C-4F77-BEE8-3696FBE40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212" y="10945"/>
            <a:ext cx="8622343" cy="1325563"/>
          </a:xfrm>
        </p:spPr>
        <p:txBody>
          <a:bodyPr/>
          <a:lstStyle/>
          <a:p>
            <a:r>
              <a:rPr lang="pl-PL" dirty="0"/>
              <a:t>TOPOLOGIA GWIAZDY</a:t>
            </a:r>
            <a:endParaRPr lang="en-US" dirty="0"/>
          </a:p>
        </p:txBody>
      </p:sp>
      <p:sp>
        <p:nvSpPr>
          <p:cNvPr id="44" name="Title 4">
            <a:extLst>
              <a:ext uri="{FF2B5EF4-FFF2-40B4-BE49-F238E27FC236}">
                <a16:creationId xmlns:a16="http://schemas.microsoft.com/office/drawing/2014/main" id="{8A278497-4C25-4A48-B434-381992F79E60}"/>
              </a:ext>
            </a:extLst>
          </p:cNvPr>
          <p:cNvSpPr txBox="1">
            <a:spLocks/>
          </p:cNvSpPr>
          <p:nvPr/>
        </p:nvSpPr>
        <p:spPr>
          <a:xfrm>
            <a:off x="1629666" y="1258061"/>
            <a:ext cx="2668081" cy="9911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rgbClr val="FF0000"/>
                </a:solidFill>
              </a:rPr>
              <a:t>Gwiazdy: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0" name="Obraz 39">
            <a:extLst>
              <a:ext uri="{FF2B5EF4-FFF2-40B4-BE49-F238E27FC236}">
                <a16:creationId xmlns:a16="http://schemas.microsoft.com/office/drawing/2014/main" id="{1B106960-2AE5-4E32-B6FE-A8AA7D67B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030" y="3633828"/>
            <a:ext cx="3663832" cy="3224172"/>
          </a:xfrm>
          <a:prstGeom prst="rect">
            <a:avLst/>
          </a:prstGeom>
        </p:spPr>
      </p:pic>
      <p:sp>
        <p:nvSpPr>
          <p:cNvPr id="47" name="Title 4">
            <a:extLst>
              <a:ext uri="{FF2B5EF4-FFF2-40B4-BE49-F238E27FC236}">
                <a16:creationId xmlns:a16="http://schemas.microsoft.com/office/drawing/2014/main" id="{6E3B8733-89E1-4EC9-9577-7216DA40E294}"/>
              </a:ext>
            </a:extLst>
          </p:cNvPr>
          <p:cNvSpPr txBox="1">
            <a:spLocks/>
          </p:cNvSpPr>
          <p:nvPr/>
        </p:nvSpPr>
        <p:spPr>
          <a:xfrm>
            <a:off x="6334030" y="816762"/>
            <a:ext cx="5360808" cy="18737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rgbClr val="FF0000"/>
                </a:solidFill>
              </a:rPr>
              <a:t>Rozszerzonej gwiazdy:</a:t>
            </a:r>
          </a:p>
          <a:p>
            <a:r>
              <a:rPr lang="pl-PL" dirty="0"/>
              <a:t> </a:t>
            </a:r>
            <a:endParaRPr lang="en-US" dirty="0"/>
          </a:p>
        </p:txBody>
      </p:sp>
      <p:cxnSp>
        <p:nvCxnSpPr>
          <p:cNvPr id="42" name="Łącznik prosty 41">
            <a:extLst>
              <a:ext uri="{FF2B5EF4-FFF2-40B4-BE49-F238E27FC236}">
                <a16:creationId xmlns:a16="http://schemas.microsoft.com/office/drawing/2014/main" id="{7F9DAB5B-2D51-4B67-9FE8-255C3E34BFB5}"/>
              </a:ext>
            </a:extLst>
          </p:cNvPr>
          <p:cNvCxnSpPr>
            <a:cxnSpLocks/>
          </p:cNvCxnSpPr>
          <p:nvPr/>
        </p:nvCxnSpPr>
        <p:spPr>
          <a:xfrm>
            <a:off x="5585989" y="1337340"/>
            <a:ext cx="0" cy="506088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Text Placeholder 19">
            <a:extLst>
              <a:ext uri="{FF2B5EF4-FFF2-40B4-BE49-F238E27FC236}">
                <a16:creationId xmlns:a16="http://schemas.microsoft.com/office/drawing/2014/main" id="{AE89F19A-D5F5-4EE4-BE34-70782A32365A}"/>
              </a:ext>
            </a:extLst>
          </p:cNvPr>
          <p:cNvSpPr txBox="1">
            <a:spLocks/>
          </p:cNvSpPr>
          <p:nvPr/>
        </p:nvSpPr>
        <p:spPr>
          <a:xfrm>
            <a:off x="186800" y="1623641"/>
            <a:ext cx="5519128" cy="8815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400" dirty="0"/>
              <a:t>sposób połączenia urządzeń w sieci komputerowej charakteryzujący się tym, że kable sieciowe od wszystkich urządzeń końcowych zbiegają się w jednym wspólnym punkcie, zwanym punktem dostępu, w którym znajduje się koncentrator lub przełącznik sieciowy.</a:t>
            </a:r>
            <a:endParaRPr lang="en-US" sz="1400" dirty="0"/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87F04DC1-DD67-465B-844E-EA28B44C5495}"/>
              </a:ext>
            </a:extLst>
          </p:cNvPr>
          <p:cNvSpPr txBox="1">
            <a:spLocks/>
          </p:cNvSpPr>
          <p:nvPr/>
        </p:nvSpPr>
        <p:spPr>
          <a:xfrm>
            <a:off x="6299382" y="1643390"/>
            <a:ext cx="5519128" cy="8815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400" dirty="0"/>
              <a:t>Topologia rozgałęzionej gwiazdy oparta jest na topologii gwiazdy. W tej topologii każde z urządzeń końcowych działa jako urządzenie centralne dla własnej topologii gwiazdy. Poszczególne gwiazdy połączone są ze sobą przy użyciu koncentratorów lub przełączników</a:t>
            </a:r>
            <a:endParaRPr lang="en-US" sz="1400" dirty="0"/>
          </a:p>
        </p:txBody>
      </p:sp>
      <p:sp>
        <p:nvSpPr>
          <p:cNvPr id="56" name="Title 4">
            <a:extLst>
              <a:ext uri="{FF2B5EF4-FFF2-40B4-BE49-F238E27FC236}">
                <a16:creationId xmlns:a16="http://schemas.microsoft.com/office/drawing/2014/main" id="{0AAB5D6C-0B72-48DE-B263-384B056EF59B}"/>
              </a:ext>
            </a:extLst>
          </p:cNvPr>
          <p:cNvSpPr txBox="1">
            <a:spLocks/>
          </p:cNvSpPr>
          <p:nvPr/>
        </p:nvSpPr>
        <p:spPr>
          <a:xfrm>
            <a:off x="154776" y="2465153"/>
            <a:ext cx="5117162" cy="1294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Zalety:</a:t>
            </a:r>
          </a:p>
          <a:p>
            <a:endParaRPr lang="en-US" dirty="0"/>
          </a:p>
        </p:txBody>
      </p:sp>
      <p:sp>
        <p:nvSpPr>
          <p:cNvPr id="57" name="Title 4">
            <a:extLst>
              <a:ext uri="{FF2B5EF4-FFF2-40B4-BE49-F238E27FC236}">
                <a16:creationId xmlns:a16="http://schemas.microsoft.com/office/drawing/2014/main" id="{2FB14834-2BCE-4FA9-8992-4A35FB838C52}"/>
              </a:ext>
            </a:extLst>
          </p:cNvPr>
          <p:cNvSpPr txBox="1">
            <a:spLocks/>
          </p:cNvSpPr>
          <p:nvPr/>
        </p:nvSpPr>
        <p:spPr>
          <a:xfrm>
            <a:off x="6241263" y="2451815"/>
            <a:ext cx="5117162" cy="1294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Zalety:</a:t>
            </a:r>
          </a:p>
          <a:p>
            <a:endParaRPr lang="en-US" dirty="0"/>
          </a:p>
        </p:txBody>
      </p:sp>
      <p:sp>
        <p:nvSpPr>
          <p:cNvPr id="58" name="Title 4">
            <a:extLst>
              <a:ext uri="{FF2B5EF4-FFF2-40B4-BE49-F238E27FC236}">
                <a16:creationId xmlns:a16="http://schemas.microsoft.com/office/drawing/2014/main" id="{03BB39B3-316A-430F-88D4-853FA06A04F9}"/>
              </a:ext>
            </a:extLst>
          </p:cNvPr>
          <p:cNvSpPr txBox="1">
            <a:spLocks/>
          </p:cNvSpPr>
          <p:nvPr/>
        </p:nvSpPr>
        <p:spPr>
          <a:xfrm>
            <a:off x="154776" y="2986562"/>
            <a:ext cx="5117162" cy="1294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Wady:</a:t>
            </a:r>
          </a:p>
          <a:p>
            <a:endParaRPr lang="en-US" dirty="0"/>
          </a:p>
        </p:txBody>
      </p:sp>
      <p:sp>
        <p:nvSpPr>
          <p:cNvPr id="59" name="Title 4">
            <a:extLst>
              <a:ext uri="{FF2B5EF4-FFF2-40B4-BE49-F238E27FC236}">
                <a16:creationId xmlns:a16="http://schemas.microsoft.com/office/drawing/2014/main" id="{F3F6B03B-EFF3-4D27-84CB-5180F4CC2899}"/>
              </a:ext>
            </a:extLst>
          </p:cNvPr>
          <p:cNvSpPr txBox="1">
            <a:spLocks/>
          </p:cNvSpPr>
          <p:nvPr/>
        </p:nvSpPr>
        <p:spPr>
          <a:xfrm>
            <a:off x="6241263" y="2969594"/>
            <a:ext cx="5117162" cy="1294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Wady:</a:t>
            </a:r>
          </a:p>
          <a:p>
            <a:endParaRPr lang="en-US" dirty="0"/>
          </a:p>
        </p:txBody>
      </p:sp>
      <p:sp>
        <p:nvSpPr>
          <p:cNvPr id="60" name="Text Placeholder 19">
            <a:extLst>
              <a:ext uri="{FF2B5EF4-FFF2-40B4-BE49-F238E27FC236}">
                <a16:creationId xmlns:a16="http://schemas.microsoft.com/office/drawing/2014/main" id="{03E086E2-34A8-4C2B-B81F-73DCC9B9B322}"/>
              </a:ext>
            </a:extLst>
          </p:cNvPr>
          <p:cNvSpPr txBox="1">
            <a:spLocks/>
          </p:cNvSpPr>
          <p:nvPr/>
        </p:nvSpPr>
        <p:spPr>
          <a:xfrm>
            <a:off x="1789096" y="2596723"/>
            <a:ext cx="4018177" cy="5156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200" b="1" dirty="0"/>
              <a:t>Łatwa lokalizacja uszkodzeń ze względu na centralne sterowanie. Wydajność.</a:t>
            </a:r>
            <a:endParaRPr lang="en-US" sz="1200" b="1" dirty="0"/>
          </a:p>
        </p:txBody>
      </p:sp>
      <p:sp>
        <p:nvSpPr>
          <p:cNvPr id="61" name="Text Placeholder 19">
            <a:extLst>
              <a:ext uri="{FF2B5EF4-FFF2-40B4-BE49-F238E27FC236}">
                <a16:creationId xmlns:a16="http://schemas.microsoft.com/office/drawing/2014/main" id="{4F3B3B29-86CF-4EFE-B7A2-FB18664C3DD3}"/>
              </a:ext>
            </a:extLst>
          </p:cNvPr>
          <p:cNvSpPr txBox="1">
            <a:spLocks/>
          </p:cNvSpPr>
          <p:nvPr/>
        </p:nvSpPr>
        <p:spPr>
          <a:xfrm>
            <a:off x="1770295" y="3140933"/>
            <a:ext cx="4018177" cy="5156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200" b="1" dirty="0"/>
              <a:t>konieczność wykorzystania dużej ilości okablowania</a:t>
            </a:r>
            <a:br>
              <a:rPr lang="pl-PL" sz="1200" b="1" dirty="0"/>
            </a:br>
            <a:r>
              <a:rPr lang="pl-PL" sz="1200" b="1" dirty="0"/>
              <a:t>Ograniczone możliwości rozbudowy sieci</a:t>
            </a:r>
            <a:endParaRPr lang="en-US" sz="1200" b="1" dirty="0"/>
          </a:p>
        </p:txBody>
      </p:sp>
      <p:sp>
        <p:nvSpPr>
          <p:cNvPr id="62" name="Text Placeholder 19">
            <a:extLst>
              <a:ext uri="{FF2B5EF4-FFF2-40B4-BE49-F238E27FC236}">
                <a16:creationId xmlns:a16="http://schemas.microsoft.com/office/drawing/2014/main" id="{10ED0A5D-23CD-40A8-8F1B-5161B6A42975}"/>
              </a:ext>
            </a:extLst>
          </p:cNvPr>
          <p:cNvSpPr txBox="1">
            <a:spLocks/>
          </p:cNvSpPr>
          <p:nvPr/>
        </p:nvSpPr>
        <p:spPr>
          <a:xfrm>
            <a:off x="7875583" y="3114620"/>
            <a:ext cx="4018177" cy="5156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200" b="1" dirty="0"/>
              <a:t>ogranicza liczbę urządzeń, które muszą być podłączone z centralnym węzłem.</a:t>
            </a:r>
            <a:endParaRPr lang="en-US" sz="1200" b="1" dirty="0"/>
          </a:p>
        </p:txBody>
      </p:sp>
      <p:sp>
        <p:nvSpPr>
          <p:cNvPr id="63" name="Text Placeholder 19">
            <a:extLst>
              <a:ext uri="{FF2B5EF4-FFF2-40B4-BE49-F238E27FC236}">
                <a16:creationId xmlns:a16="http://schemas.microsoft.com/office/drawing/2014/main" id="{D8E76129-92F3-438B-A681-2F1143A6E630}"/>
              </a:ext>
            </a:extLst>
          </p:cNvPr>
          <p:cNvSpPr txBox="1">
            <a:spLocks/>
          </p:cNvSpPr>
          <p:nvPr/>
        </p:nvSpPr>
        <p:spPr>
          <a:xfrm>
            <a:off x="7875583" y="2690519"/>
            <a:ext cx="4018177" cy="5156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200" b="1" dirty="0"/>
              <a:t>Pozwala na stosowanie krótszych przewodów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10788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9A322C9A-4C29-F80C-A85F-70A864549ADA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6DD1543B-A08A-4759-A9A9-AB2B4CB9E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82" y="257129"/>
            <a:ext cx="6199858" cy="1325563"/>
          </a:xfrm>
        </p:spPr>
        <p:txBody>
          <a:bodyPr/>
          <a:lstStyle/>
          <a:p>
            <a:r>
              <a:rPr lang="pl-PL" dirty="0"/>
              <a:t>TOPOLOGIA SIATKI</a:t>
            </a:r>
            <a:endParaRPr lang="en-US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3B8D441-497E-4B47-8953-FF845E380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680" y="1670644"/>
            <a:ext cx="3453912" cy="3516711"/>
          </a:xfrm>
          <a:prstGeom prst="rect">
            <a:avLst/>
          </a:prstGeom>
        </p:spPr>
      </p:pic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A9D3EABF-93FA-41F4-824D-7F3185F26607}"/>
              </a:ext>
            </a:extLst>
          </p:cNvPr>
          <p:cNvSpPr txBox="1">
            <a:spLocks/>
          </p:cNvSpPr>
          <p:nvPr/>
        </p:nvSpPr>
        <p:spPr>
          <a:xfrm>
            <a:off x="1193218" y="1154072"/>
            <a:ext cx="4808903" cy="1395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Jedna z fizycznych topologii sieci komputerowych charakteryzująca się tym, iż jej węzły łączą się bezpośrednio, dynamicznie i niehierarchicznie z jak największą liczbą innych węzłów i współpracują ze sobą w celu efektywnego trasowania danych. </a:t>
            </a:r>
            <a:endParaRPr lang="en-US" dirty="0"/>
          </a:p>
        </p:txBody>
      </p:sp>
      <p:sp>
        <p:nvSpPr>
          <p:cNvPr id="25" name="Title 4">
            <a:extLst>
              <a:ext uri="{FF2B5EF4-FFF2-40B4-BE49-F238E27FC236}">
                <a16:creationId xmlns:a16="http://schemas.microsoft.com/office/drawing/2014/main" id="{5AC46E29-E891-45C1-8DF9-2FA9A7618A9B}"/>
              </a:ext>
            </a:extLst>
          </p:cNvPr>
          <p:cNvSpPr txBox="1">
            <a:spLocks/>
          </p:cNvSpPr>
          <p:nvPr/>
        </p:nvSpPr>
        <p:spPr>
          <a:xfrm>
            <a:off x="1121930" y="2479635"/>
            <a:ext cx="5117162" cy="1294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Zalety:</a:t>
            </a:r>
          </a:p>
          <a:p>
            <a:endParaRPr lang="en-US" dirty="0"/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8C0FADDC-0A1A-4EF9-8682-F675374D66FB}"/>
              </a:ext>
            </a:extLst>
          </p:cNvPr>
          <p:cNvSpPr txBox="1">
            <a:spLocks/>
          </p:cNvSpPr>
          <p:nvPr/>
        </p:nvSpPr>
        <p:spPr>
          <a:xfrm>
            <a:off x="1121930" y="3020633"/>
            <a:ext cx="5287662" cy="1507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400" dirty="0"/>
              <a:t>wysoka niezawodność</a:t>
            </a:r>
          </a:p>
          <a:p>
            <a:r>
              <a:rPr lang="pl-PL" sz="1400" dirty="0"/>
              <a:t>brak kolizji w przypadku siatki pełnej; ograniczona liczba kolizji w przypadku siatki częściowej.</a:t>
            </a:r>
          </a:p>
          <a:p>
            <a:r>
              <a:rPr lang="pl-PL" sz="1400" dirty="0"/>
              <a:t>uszkodzony węzeł nie wpływa na pracę sieci w przypadku siatki pełnej; ma ograniczony wpływ w przypadku siatki częściowej.</a:t>
            </a:r>
          </a:p>
          <a:p>
            <a:endParaRPr lang="en-US" sz="1400" dirty="0"/>
          </a:p>
        </p:txBody>
      </p:sp>
      <p:sp>
        <p:nvSpPr>
          <p:cNvPr id="27" name="Title 4">
            <a:extLst>
              <a:ext uri="{FF2B5EF4-FFF2-40B4-BE49-F238E27FC236}">
                <a16:creationId xmlns:a16="http://schemas.microsoft.com/office/drawing/2014/main" id="{343799F5-8E1D-432C-B5D1-018BBA9E2315}"/>
              </a:ext>
            </a:extLst>
          </p:cNvPr>
          <p:cNvSpPr txBox="1">
            <a:spLocks/>
          </p:cNvSpPr>
          <p:nvPr/>
        </p:nvSpPr>
        <p:spPr>
          <a:xfrm>
            <a:off x="1121930" y="4351296"/>
            <a:ext cx="5117162" cy="1294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Wady:</a:t>
            </a:r>
          </a:p>
          <a:p>
            <a:endParaRPr lang="en-US" dirty="0"/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8E525927-DB36-42CB-9A72-6F1263C766F4}"/>
              </a:ext>
            </a:extLst>
          </p:cNvPr>
          <p:cNvSpPr txBox="1">
            <a:spLocks/>
          </p:cNvSpPr>
          <p:nvPr/>
        </p:nvSpPr>
        <p:spPr>
          <a:xfrm>
            <a:off x="1121930" y="4891161"/>
            <a:ext cx="5287662" cy="812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400" dirty="0"/>
              <a:t>wysoki koszt.</a:t>
            </a:r>
          </a:p>
          <a:p>
            <a:r>
              <a:rPr lang="pl-PL" sz="1400" dirty="0"/>
              <a:t>skomplikowana budowa.</a:t>
            </a:r>
          </a:p>
        </p:txBody>
      </p:sp>
    </p:spTree>
    <p:extLst>
      <p:ext uri="{BB962C8B-B14F-4D97-AF65-F5344CB8AC3E}">
        <p14:creationId xmlns:p14="http://schemas.microsoft.com/office/powerpoint/2010/main" val="396991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17942FE-65D3-7C03-B361-8DF125B81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697915"/>
            <a:ext cx="10515600" cy="1205058"/>
          </a:xfrm>
        </p:spPr>
        <p:txBody>
          <a:bodyPr/>
          <a:lstStyle/>
          <a:p>
            <a:r>
              <a:rPr lang="pl-PL" dirty="0"/>
              <a:t>Sieć AD-HOC</a:t>
            </a:r>
            <a:endParaRPr lang="en-US" dirty="0"/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22D79EB2-B914-5355-4D75-3AC59F0DCCC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07135" y="3190918"/>
            <a:ext cx="1877575" cy="506399"/>
          </a:xfrm>
        </p:spPr>
        <p:txBody>
          <a:bodyPr/>
          <a:lstStyle/>
          <a:p>
            <a:r>
              <a:rPr lang="pl-PL" dirty="0"/>
              <a:t>OPIS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BD10CEB-2241-4246-B0F4-96E0DB642C4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07135" y="3697317"/>
            <a:ext cx="1877575" cy="1661032"/>
          </a:xfrm>
        </p:spPr>
        <p:txBody>
          <a:bodyPr/>
          <a:lstStyle/>
          <a:p>
            <a:r>
              <a:rPr lang="pl-PL" dirty="0"/>
              <a:t>bezprzewodowa sieć o zdecentralizowanej strukturze, w której przyłączone mobilne urządzenia mogą pełnić funkcje zarówno klienta, jak i punktu dostępu</a:t>
            </a:r>
            <a:endParaRPr lang="en-US" altLang="zh-CN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0ECD9490-0BE0-6A65-01CD-D54CAB8395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3889941" y="1736201"/>
            <a:ext cx="1877575" cy="506399"/>
          </a:xfrm>
        </p:spPr>
        <p:txBody>
          <a:bodyPr/>
          <a:lstStyle/>
          <a:p>
            <a:r>
              <a:rPr lang="pl-PL" dirty="0"/>
              <a:t>WADY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78038ACE-740A-4AE7-A0B3-BEEA90495BD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708074" y="2262874"/>
            <a:ext cx="2337943" cy="1661032"/>
          </a:xfrm>
        </p:spPr>
        <p:txBody>
          <a:bodyPr/>
          <a:lstStyle/>
          <a:p>
            <a:pPr lvl="0"/>
            <a:r>
              <a:rPr lang="pl-PL" sz="1300" dirty="0"/>
              <a:t>Ponieważ ad-</a:t>
            </a:r>
            <a:r>
              <a:rPr lang="pl-PL" sz="1300" dirty="0" err="1"/>
              <a:t>hocowe</a:t>
            </a:r>
            <a:r>
              <a:rPr lang="pl-PL" sz="1300" dirty="0"/>
              <a:t> rozwiązania są często oparte na tymczasowych zasobach i środowiskach, mogą być niestabilne i podatne na awarie. To może prowadzić do utraty danych lub innych problemów wykonawczych.</a:t>
            </a:r>
            <a:endParaRPr lang="en-US" altLang="zh-CN" sz="1300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CEEED1DD-BCBD-5246-2A2C-BCED87782D5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07230" y="3849322"/>
            <a:ext cx="1877575" cy="506399"/>
          </a:xfrm>
        </p:spPr>
        <p:txBody>
          <a:bodyPr/>
          <a:lstStyle/>
          <a:p>
            <a:r>
              <a:rPr lang="pl-PL" dirty="0"/>
              <a:t>ZALETY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D441F7A-4624-45D2-AE88-EEBA65185E6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948989" y="4355721"/>
            <a:ext cx="2237874" cy="1514534"/>
          </a:xfrm>
        </p:spPr>
        <p:txBody>
          <a:bodyPr/>
          <a:lstStyle/>
          <a:p>
            <a:r>
              <a:rPr lang="pl-PL" altLang="zh-CN" dirty="0"/>
              <a:t>możliwość stosowania w miejscach, gdzie nie ma możliwości wybudowania infrastruktury kablowej,</a:t>
            </a:r>
          </a:p>
          <a:p>
            <a:r>
              <a:rPr lang="pl-PL" altLang="zh-CN" dirty="0"/>
              <a:t>nie trzeba kłaść okablowania pomiędzy komputerami i punktem dostępowym.</a:t>
            </a:r>
          </a:p>
          <a:p>
            <a:endParaRPr lang="en-US" altLang="zh-CN" dirty="0"/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F783E846-53E9-08B1-C781-088BBC6B548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2" name="Obraz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013" y="1989400"/>
            <a:ext cx="2118261" cy="174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06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9A322C9A-4C29-F80C-A85F-70A864549ADA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78569" y="108452"/>
            <a:ext cx="10515600" cy="1325563"/>
          </a:xfrm>
        </p:spPr>
        <p:txBody>
          <a:bodyPr/>
          <a:lstStyle/>
          <a:p>
            <a:r>
              <a:rPr lang="pl-PL" dirty="0" smtClean="0"/>
              <a:t>TOPOLOGIA HIERARCHICZNA</a:t>
            </a:r>
            <a:endParaRPr lang="pl-PL" dirty="0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A9D3EABF-93FA-41F4-824D-7F3185F26607}"/>
              </a:ext>
            </a:extLst>
          </p:cNvPr>
          <p:cNvSpPr txBox="1">
            <a:spLocks/>
          </p:cNvSpPr>
          <p:nvPr/>
        </p:nvSpPr>
        <p:spPr>
          <a:xfrm>
            <a:off x="176463" y="1040659"/>
            <a:ext cx="6521116" cy="18068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 </a:t>
            </a:r>
            <a:r>
              <a:rPr lang="pl-PL" dirty="0" smtClean="0"/>
              <a:t>Jest </a:t>
            </a:r>
            <a:r>
              <a:rPr lang="pl-PL" dirty="0"/>
              <a:t>kombinacją topologii gwiazdy i magistrali, może być także postrzegana jako zbiór sieci w topologii </a:t>
            </a:r>
            <a:r>
              <a:rPr lang="pl-PL" dirty="0" smtClean="0"/>
              <a:t>gwiazdy</a:t>
            </a:r>
            <a:r>
              <a:rPr lang="pl-PL" dirty="0"/>
              <a:t> połączonych </a:t>
            </a:r>
            <a:r>
              <a:rPr lang="pl-PL" dirty="0" smtClean="0"/>
              <a:t>magistrali</a:t>
            </a:r>
            <a:r>
              <a:rPr lang="pl-PL" dirty="0"/>
              <a:t> w strukturę hierarchiczną (drzewiastą).</a:t>
            </a:r>
          </a:p>
          <a:p>
            <a:r>
              <a:rPr lang="pl-PL" dirty="0"/>
              <a:t>Zasada jej budowy polega na dublowaniu poszczególnych magistral. Początkową pierwszą </a:t>
            </a:r>
            <a:r>
              <a:rPr lang="pl-PL" dirty="0" smtClean="0"/>
              <a:t>magistralę</a:t>
            </a:r>
            <a:r>
              <a:rPr lang="pl-PL" dirty="0"/>
              <a:t> dołącza się do </a:t>
            </a:r>
            <a:r>
              <a:rPr lang="pl-PL" dirty="0" smtClean="0"/>
              <a:t>koncentratora, </a:t>
            </a:r>
            <a:r>
              <a:rPr lang="pl-PL" dirty="0"/>
              <a:t>dzieląc ją na dwie lub więcej magistral przy użyciu przewodów koncentrycznych – w ten sposób powstają kolejne magistrale. Proces dzielenia można kontynuować, tworząc dodatkowe magistrale wychodzące z magistral odchodzących od pierwszej magistrali, co nadaje topologii cechy topologii gwiazdy. Jeśli jedną magistralę podzieli się na trzy magistrale i każdą z nich na kolejne trzy to w efekcie łącznie otrzyma się trzynaście magistral. Tak tworzone są kolejne poziomy drzewa, ale ich liczba jest ograniczona. Na końcu takiego drzewa zawsze znajdują się pojedyncze terminale (urządzenia).</a:t>
            </a:r>
          </a:p>
          <a:p>
            <a:endParaRPr lang="en-US" dirty="0"/>
          </a:p>
        </p:txBody>
      </p:sp>
      <p:pic>
        <p:nvPicPr>
          <p:cNvPr id="3" name="Obraz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533" y="1805137"/>
            <a:ext cx="4413320" cy="3761474"/>
          </a:xfrm>
          <a:prstGeom prst="rect">
            <a:avLst/>
          </a:prstGeom>
        </p:spPr>
      </p:pic>
      <p:sp>
        <p:nvSpPr>
          <p:cNvPr id="8" name="Title 4">
            <a:extLst>
              <a:ext uri="{FF2B5EF4-FFF2-40B4-BE49-F238E27FC236}">
                <a16:creationId xmlns:a16="http://schemas.microsoft.com/office/drawing/2014/main" id="{5AC46E29-E891-45C1-8DF9-2FA9A7618A9B}"/>
              </a:ext>
            </a:extLst>
          </p:cNvPr>
          <p:cNvSpPr txBox="1">
            <a:spLocks/>
          </p:cNvSpPr>
          <p:nvPr/>
        </p:nvSpPr>
        <p:spPr>
          <a:xfrm>
            <a:off x="176463" y="4573129"/>
            <a:ext cx="5117162" cy="1294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Zalety:</a:t>
            </a:r>
          </a:p>
          <a:p>
            <a:endParaRPr lang="en-US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343799F5-8E1D-432C-B5D1-018BBA9E2315}"/>
              </a:ext>
            </a:extLst>
          </p:cNvPr>
          <p:cNvSpPr txBox="1">
            <a:spLocks/>
          </p:cNvSpPr>
          <p:nvPr/>
        </p:nvSpPr>
        <p:spPr>
          <a:xfrm>
            <a:off x="304800" y="5672879"/>
            <a:ext cx="5117162" cy="1294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Wady:</a:t>
            </a:r>
          </a:p>
          <a:p>
            <a:endParaRPr lang="en-US" dirty="0"/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8C0FADDC-0A1A-4EF9-8682-F675374D66FB}"/>
              </a:ext>
            </a:extLst>
          </p:cNvPr>
          <p:cNvSpPr txBox="1">
            <a:spLocks/>
          </p:cNvSpPr>
          <p:nvPr/>
        </p:nvSpPr>
        <p:spPr>
          <a:xfrm>
            <a:off x="2052371" y="4360594"/>
            <a:ext cx="5287662" cy="12060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200" dirty="0"/>
              <a:t>łatwa konfiguracja.</a:t>
            </a:r>
          </a:p>
          <a:p>
            <a:r>
              <a:rPr lang="pl-PL" sz="1200" dirty="0"/>
              <a:t>sieć zazwyczaj nie jest czuła na uszkodzenie danego węzła czy kabla.</a:t>
            </a:r>
          </a:p>
          <a:p>
            <a:r>
              <a:rPr lang="pl-PL" sz="1200" dirty="0"/>
              <a:t>łatwa rozbudowa sieci komputerowej poprzez dodawanie kolejnych rozgałęzień</a:t>
            </a:r>
          </a:p>
          <a:p>
            <a:endParaRPr lang="en-US" sz="1400" dirty="0"/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8C0FADDC-0A1A-4EF9-8682-F675374D66FB}"/>
              </a:ext>
            </a:extLst>
          </p:cNvPr>
          <p:cNvSpPr txBox="1">
            <a:spLocks/>
          </p:cNvSpPr>
          <p:nvPr/>
        </p:nvSpPr>
        <p:spPr>
          <a:xfrm>
            <a:off x="1996223" y="5770664"/>
            <a:ext cx="5287662" cy="8101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duża liczba przewodów.</a:t>
            </a:r>
          </a:p>
          <a:p>
            <a:r>
              <a:rPr lang="pl-PL" dirty="0"/>
              <a:t>trudności w odnajdywaniu błędów.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6176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491" y="1641986"/>
            <a:ext cx="5257793" cy="2057441"/>
          </a:xfrm>
        </p:spPr>
        <p:txBody>
          <a:bodyPr/>
          <a:lstStyle/>
          <a:p>
            <a:r>
              <a:rPr lang="pl-PL" altLang="zh-CN" dirty="0" smtClean="0"/>
              <a:t>Prezentacja stworzona przez Bartosza Świąteckiego 1A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41363" y="4355266"/>
            <a:ext cx="3498172" cy="760288"/>
          </a:xfrm>
        </p:spPr>
        <p:txBody>
          <a:bodyPr/>
          <a:lstStyle/>
          <a:p>
            <a:r>
              <a:rPr lang="pl-PL" dirty="0" smtClean="0"/>
              <a:t>Topologie Sieciowe</a:t>
            </a:r>
            <a:endParaRPr lang="en-US" dirty="0"/>
          </a:p>
        </p:txBody>
      </p:sp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tretch>
            <a:fillRect/>
          </a:stretch>
        </p:blipFill>
        <p:spPr>
          <a:xfrm>
            <a:off x="6550291" y="1641986"/>
            <a:ext cx="4405503" cy="3108633"/>
          </a:xfr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Dark Presentation_win32_v2" id="{93B44BEE-AA18-4720-B555-E5F46C5F93FC}" vid="{88E458CA-BB4B-4D24-B4FE-119ECB54A9B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http://purl.org/dc/elements/1.1/"/>
    <ds:schemaRef ds:uri="16c05727-aa75-4e4a-9b5f-8a80a1165891"/>
    <ds:schemaRef ds:uri="71af3243-3dd4-4a8d-8c0d-dd76da1f02a5"/>
    <ds:schemaRef ds:uri="http://schemas.microsoft.com/sharepoint/v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E77570E-71D6-4005-B631-1B00A1197B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514</Words>
  <Application>Microsoft Office PowerPoint</Application>
  <PresentationFormat>Panoramiczny</PresentationFormat>
  <Paragraphs>70</Paragraphs>
  <Slides>8</Slides>
  <Notes>8</Notes>
  <HiddenSlides>0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6" baseType="lpstr">
      <vt:lpstr>Abadi</vt:lpstr>
      <vt:lpstr>Arial</vt:lpstr>
      <vt:lpstr>Calibri</vt:lpstr>
      <vt:lpstr>等线</vt:lpstr>
      <vt:lpstr>Posterama</vt:lpstr>
      <vt:lpstr>Posterama Text Black</vt:lpstr>
      <vt:lpstr>Posterama Text SemiBold</vt:lpstr>
      <vt:lpstr>Custom</vt:lpstr>
      <vt:lpstr>TOPOLOGIE SIECIOWE</vt:lpstr>
      <vt:lpstr>TOPOLOGIA MAGISTRALI</vt:lpstr>
      <vt:lpstr>TOPOLOGIA PIERŚCIENIA</vt:lpstr>
      <vt:lpstr>TOPOLOGIA GWIAZDY</vt:lpstr>
      <vt:lpstr>TOPOLOGIA SIATKI</vt:lpstr>
      <vt:lpstr>Sieć AD-HOC</vt:lpstr>
      <vt:lpstr>TOPOLOGIA HIERARCHICZNA</vt:lpstr>
      <vt:lpstr>Prezentacja stworzona przez Bartosza Świąteckiego 1A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2023-09-14T05:46:04Z</dcterms:created>
  <dcterms:modified xsi:type="dcterms:W3CDTF">2023-10-26T14:27:54Z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